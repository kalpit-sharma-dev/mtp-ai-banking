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 Banking Using Agentic AI and ML Models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Involving MCP Servers</a:t>
            </a:r>
          </a:p>
          <a:p>
            <a:r>
              <a:t>Project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Definition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 sz="1400"/>
            </a:pPr>
            <a:r>
              <a:t>Current Banking Systems Face:</a:t>
            </a:r>
          </a:p>
          <a:p>
            <a:pPr>
              <a:defRPr sz="1100"/>
            </a:pPr>
            <a:r>
              <a:t>• Lack of intelligent, context-aware processing</a:t>
            </a:r>
          </a:p>
          <a:p>
            <a:pPr>
              <a:defRPr sz="1100"/>
            </a:pPr>
            <a:r>
              <a:t>• Difficulty integrating multiple AI/ML models</a:t>
            </a:r>
          </a:p>
          <a:p>
            <a:pPr>
              <a:defRPr sz="1100"/>
            </a:pPr>
            <a:r>
              <a:t>• Inability to scale securely across banking services</a:t>
            </a:r>
          </a:p>
          <a:p>
            <a:pPr>
              <a:defRPr sz="1100"/>
            </a:pPr>
            <a:r>
              <a:t>• No unified orchestration layer for AI agents</a:t>
            </a:r>
          </a:p>
          <a:p>
            <a:pPr>
              <a:defRPr sz="1100"/>
            </a:pPr>
          </a:p>
          <a:p>
            <a:pPr>
              <a:defRPr sz="1100"/>
            </a:pPr>
            <a:r>
              <a:t>Specific Problems:</a:t>
            </a:r>
          </a:p>
          <a:p>
            <a:pPr>
              <a:defRPr sz="1100"/>
            </a:pPr>
            <a:r>
              <a:t>• Traditional rule-based systems cannot adapt</a:t>
            </a:r>
          </a:p>
          <a:p>
            <a:pPr>
              <a:defRPr sz="1100"/>
            </a:pPr>
            <a:r>
              <a:t>• ML models exist in silos without coordination</a:t>
            </a:r>
          </a:p>
          <a:p>
            <a:pPr>
              <a:defRPr sz="1100"/>
            </a:pPr>
            <a:r>
              <a:t>• No context-aware routing between channels</a:t>
            </a:r>
          </a:p>
          <a:p>
            <a:pPr>
              <a:defRPr sz="1100"/>
            </a:pPr>
            <a:r>
              <a:t>• Manual intervention required for decisions</a:t>
            </a:r>
          </a:p>
          <a:p>
            <a:pPr>
              <a:defRPr sz="1100"/>
            </a:pPr>
            <a:r>
              <a:t>• Inconsistent logic across channels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This Problem Is Important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 sz="1200"/>
            </a:pPr>
            <a:r>
              <a:t>1. Financial Security &amp; Fraud Prevention</a:t>
            </a:r>
          </a:p>
          <a:p>
            <a:pPr lvl="1">
              <a:defRPr sz="1000"/>
            </a:pPr>
            <a:r>
              <a:t>• Financial frauds increasing exponentially</a:t>
            </a:r>
          </a:p>
          <a:p>
            <a:pPr lvl="1">
              <a:defRPr sz="1000"/>
            </a:pPr>
            <a:r>
              <a:t>• Real-time intelligent defenses essential</a:t>
            </a:r>
          </a:p>
          <a:p>
            <a:pPr lvl="1">
              <a:defRPr sz="1000"/>
            </a:pPr>
            <a:r>
              <a:t>• Static rule engines cannot adapt</a:t>
            </a:r>
          </a:p>
          <a:p>
            <a:pPr lvl="1">
              <a:defRPr sz="1000"/>
            </a:pPr>
            <a:r>
              <a:t>• Billions lost annually to fraud</a:t>
            </a:r>
          </a:p>
          <a:p>
            <a:pPr>
              <a:defRPr b="1" sz="1200"/>
            </a:pPr>
            <a:r>
              <a:t>2. Customer Expectations</a:t>
            </a:r>
          </a:p>
          <a:p>
            <a:pPr lvl="1">
              <a:defRPr sz="1000"/>
            </a:pPr>
            <a:r>
              <a:t>• Users demand personalized, predictive services</a:t>
            </a:r>
          </a:p>
          <a:p>
            <a:pPr lvl="1">
              <a:defRPr sz="1000"/>
            </a:pPr>
            <a:r>
              <a:t>• Modern customers expect AI-powered experiences</a:t>
            </a:r>
          </a:p>
          <a:p>
            <a:pPr lvl="1">
              <a:defRPr sz="1000"/>
            </a:pPr>
            <a:r>
              <a:t>• 24/7 intelligent assistance required</a:t>
            </a:r>
          </a:p>
          <a:p>
            <a:pPr>
              <a:defRPr b="1" sz="1200"/>
            </a:pPr>
            <a:r>
              <a:t>3. Regulatory Compliance</a:t>
            </a:r>
          </a:p>
          <a:p>
            <a:pPr lvl="1">
              <a:defRPr sz="1000"/>
            </a:pPr>
            <a:r>
              <a:t>• Explainability in AI decisions required</a:t>
            </a:r>
          </a:p>
          <a:p>
            <a:pPr lvl="1">
              <a:defRPr sz="1000"/>
            </a:pPr>
            <a:r>
              <a:t>• Audit trails for all decisions</a:t>
            </a:r>
          </a:p>
          <a:p>
            <a:pPr lvl="1">
              <a:defRPr sz="1000"/>
            </a:pPr>
            <a:r>
              <a:t>• RBI regulations demand robust risk management</a:t>
            </a:r>
          </a:p>
          <a:p>
            <a:pPr>
              <a:defRPr b="1" sz="1200"/>
            </a:pPr>
            <a:r>
              <a:t>4. Competitive Advantage</a:t>
            </a:r>
          </a:p>
          <a:p>
            <a:pPr lvl="1">
              <a:defRPr sz="1000"/>
            </a:pPr>
            <a:r>
              <a:t>• Differentiate through AI capabilities</a:t>
            </a:r>
          </a:p>
          <a:p>
            <a:pPr lvl="1">
              <a:defRPr sz="1000"/>
            </a:pPr>
            <a:r>
              <a:t>• First-mover advantage in AI-driven banking</a:t>
            </a:r>
          </a:p>
          <a:p>
            <a:pPr lvl="1">
              <a:defRPr sz="1000"/>
            </a:pPr>
            <a:r>
              <a:t>• Future-ready infrastructure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the Project Delivers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 sz="1200"/>
            </a:pPr>
            <a:r>
              <a:t>1. Unified AI Orchestration Layer</a:t>
            </a:r>
          </a:p>
          <a:p>
            <a:pPr lvl="1">
              <a:defRPr sz="1000"/>
            </a:pPr>
            <a:r>
              <a:t>• MCP Server (Golang) for centralized orchestration</a:t>
            </a:r>
          </a:p>
          <a:p>
            <a:pPr lvl="1">
              <a:defRPr sz="1000"/>
            </a:pPr>
            <a:r>
              <a:t>• AI Skin Orchestrator for intent recognition</a:t>
            </a:r>
          </a:p>
          <a:p>
            <a:pPr lvl="1">
              <a:defRPr sz="1000"/>
            </a:pPr>
            <a:r>
              <a:t>• Agent Mesh with specialized AI agents</a:t>
            </a:r>
          </a:p>
          <a:p>
            <a:pPr>
              <a:defRPr b="1" sz="1200"/>
            </a:pPr>
            <a:r>
              <a:t>2. Intelligent Agent System</a:t>
            </a:r>
          </a:p>
          <a:p>
            <a:pPr lvl="1">
              <a:defRPr sz="1000"/>
            </a:pPr>
            <a:r>
              <a:t>• Banking Agent: Transactions, balance, statements</a:t>
            </a:r>
          </a:p>
          <a:p>
            <a:pPr lvl="1">
              <a:defRPr sz="1000"/>
            </a:pPr>
            <a:r>
              <a:t>• Fraud Agent: Real-time fraud detection</a:t>
            </a:r>
          </a:p>
          <a:p>
            <a:pPr lvl="1">
              <a:defRPr sz="1000"/>
            </a:pPr>
            <a:r>
              <a:t>• Guardrail Agent: RBI regulations enforcement</a:t>
            </a:r>
          </a:p>
          <a:p>
            <a:pPr lvl="1">
              <a:defRPr sz="1000"/>
            </a:pPr>
            <a:r>
              <a:t>• Clearance Agent: Loan approvals</a:t>
            </a:r>
          </a:p>
          <a:p>
            <a:pPr lvl="1">
              <a:defRPr sz="1000"/>
            </a:pPr>
            <a:r>
              <a:t>• Scoring Agent: Credit and risk scoring</a:t>
            </a:r>
          </a:p>
          <a:p>
            <a:pPr>
              <a:defRPr b="1" sz="1200"/>
            </a:pPr>
            <a:r>
              <a:t>3. ML Models Integration</a:t>
            </a:r>
          </a:p>
          <a:p>
            <a:pPr lvl="1">
              <a:defRPr sz="1000"/>
            </a:pPr>
            <a:r>
              <a:t>• Fraud Detection: XGBoost classifier</a:t>
            </a:r>
          </a:p>
          <a:p>
            <a:pPr lvl="1">
              <a:defRPr sz="1000"/>
            </a:pPr>
            <a:r>
              <a:t>• Credit Scoring: Random Forest</a:t>
            </a:r>
          </a:p>
          <a:p>
            <a:pPr lvl="1">
              <a:defRPr sz="1000"/>
            </a:pPr>
            <a:r>
              <a:t>• Risk Scoring: Ensemble model</a:t>
            </a:r>
          </a:p>
          <a:p>
            <a:pPr>
              <a:defRPr b="1" sz="1200"/>
            </a:pPr>
            <a:r>
              <a:t>4. Key Features</a:t>
            </a:r>
          </a:p>
          <a:p>
            <a:pPr lvl="1">
              <a:defRPr sz="1000"/>
            </a:pPr>
            <a:r>
              <a:t>• Real-time decisions (&lt;200ms latency)</a:t>
            </a:r>
          </a:p>
          <a:p>
            <a:pPr lvl="1">
              <a:defRPr sz="1000"/>
            </a:pPr>
            <a:r>
              <a:t>• Context-aware processing</a:t>
            </a:r>
          </a:p>
          <a:p>
            <a:pPr lvl="1">
              <a:defRPr sz="1000"/>
            </a:pPr>
            <a:r>
              <a:t>• Explainable AI decisions</a:t>
            </a:r>
          </a:p>
          <a:p>
            <a:pPr lvl="1">
              <a:defRPr sz="1000"/>
            </a:pPr>
            <a:r>
              <a:t>• Scalable (millions of transactions/day)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 sz="1000"/>
            </a:pPr>
            <a:r>
              <a:t>5-Layer Architecture:</a:t>
            </a:r>
          </a:p>
          <a:p>
            <a:pPr>
              <a:defRPr sz="1000"/>
            </a:pPr>
          </a:p>
          <a:p>
            <a:pPr>
              <a:defRPr b="1" sz="1000"/>
            </a:pPr>
            <a:r>
              <a:t>Layer 0: Web UI (Port 3000)</a:t>
            </a:r>
          </a:p>
          <a:p>
            <a:pPr>
              <a:defRPr sz="1000"/>
            </a:pPr>
            <a:r>
              <a:t>• User interface for banking operations</a:t>
            </a:r>
          </a:p>
          <a:p>
            <a:pPr>
              <a:defRPr sz="1000"/>
            </a:pPr>
            <a:r>
              <a:t>• Natural language input support</a:t>
            </a:r>
          </a:p>
          <a:p>
            <a:pPr>
              <a:defRPr sz="1000"/>
            </a:pPr>
          </a:p>
          <a:p>
            <a:pPr>
              <a:defRPr b="1" sz="1000"/>
            </a:pPr>
            <a:r>
              <a:t>Layer 1: MCP Server (Port 8080)</a:t>
            </a:r>
          </a:p>
          <a:p>
            <a:pPr>
              <a:defRPr sz="1000"/>
            </a:pPr>
            <a:r>
              <a:t>• Central orchestration hub</a:t>
            </a:r>
          </a:p>
          <a:p>
            <a:pPr>
              <a:defRPr sz="1000"/>
            </a:pPr>
            <a:r>
              <a:t>• Task routing and management</a:t>
            </a:r>
          </a:p>
          <a:p>
            <a:pPr>
              <a:defRPr sz="1000"/>
            </a:pPr>
            <a:r>
              <a:t>• Session management</a:t>
            </a:r>
          </a:p>
          <a:p>
            <a:pPr>
              <a:defRPr sz="1000"/>
            </a:pPr>
          </a:p>
          <a:p>
            <a:pPr>
              <a:defRPr b="1" sz="1000"/>
            </a:pPr>
            <a:r>
              <a:t>Layer 2: AI Skin Orchestrator (Port 8081)</a:t>
            </a:r>
          </a:p>
          <a:p>
            <a:pPr>
              <a:defRPr sz="1000"/>
            </a:pPr>
            <a:r>
              <a:t>• Intent recognition (LLM + Rule-based)</a:t>
            </a:r>
          </a:p>
          <a:p>
            <a:pPr>
              <a:defRPr sz="1000"/>
            </a:pPr>
            <a:r>
              <a:t>• Context enrichment</a:t>
            </a:r>
          </a:p>
          <a:p>
            <a:pPr>
              <a:defRPr sz="1000"/>
            </a:pPr>
            <a:r>
              <a:t>• Natural language understanding</a:t>
            </a:r>
          </a:p>
          <a:p>
            <a:pPr>
              <a:defRPr sz="1000"/>
            </a:pPr>
          </a:p>
          <a:p>
            <a:pPr>
              <a:defRPr b="1" sz="1000"/>
            </a:pPr>
            <a:r>
              <a:t>Layer 3: Agent Mesh (Ports 8001-8005)</a:t>
            </a:r>
          </a:p>
          <a:p>
            <a:pPr>
              <a:defRPr sz="1000"/>
            </a:pPr>
            <a:r>
              <a:t>• Banking, Fraud, Guardrail, Clearance, Scoring Agents</a:t>
            </a:r>
          </a:p>
          <a:p>
            <a:pPr>
              <a:defRPr sz="1000"/>
            </a:pPr>
          </a:p>
          <a:p>
            <a:pPr>
              <a:defRPr b="1" sz="1000"/>
            </a:pPr>
            <a:r>
              <a:t>Layer 4: ML Models Service (Port 9000)</a:t>
            </a:r>
          </a:p>
          <a:p>
            <a:pPr>
              <a:defRPr sz="1000"/>
            </a:pPr>
            <a:r>
              <a:t>• Fraud Detection, Credit Scoring, Risk Scoring</a:t>
            </a:r>
          </a:p>
          <a:p>
            <a:pPr>
              <a:defRPr sz="1000"/>
            </a:pPr>
          </a:p>
          <a:p>
            <a:pPr>
              <a:defRPr b="1" sz="1000"/>
            </a:pPr>
            <a:r>
              <a:t>Layer 5: Banking Integrations (Port 7000)</a:t>
            </a:r>
          </a:p>
          <a:p>
            <a:pPr>
              <a:defRPr sz="1000"/>
            </a:pPr>
            <a:r>
              <a:t>• MB, NB, DWH services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Project Diagram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latin typeface="Courier New"/>
              </a:defRPr>
            </a:pPr>
            <a:r>
              <a:t>Complete System Flow:</a:t>
            </a:r>
          </a:p>
          <a:p>
            <a:pPr>
              <a:defRPr sz="1100">
                <a:latin typeface="Courier New"/>
              </a:defRPr>
            </a:pPr>
          </a:p>
          <a:p>
            <a:pPr>
              <a:defRPr sz="1100">
                <a:latin typeface="Courier New"/>
              </a:defRPr>
            </a:pPr>
            <a:r>
              <a:t>User Requests (MB, NB, Web UI)</a:t>
            </a:r>
          </a:p>
          <a:p>
            <a:pPr>
              <a:defRPr sz="1100">
                <a:latin typeface="Courier New"/>
              </a:defRPr>
            </a:pPr>
            <a:r>
              <a:t>    ↓</a:t>
            </a:r>
          </a:p>
          <a:p>
            <a:pPr>
              <a:defRPr sz="1100">
                <a:latin typeface="Courier New"/>
              </a:defRPr>
            </a:pPr>
            <a:r>
              <a:t>AI Skin Orchestrator (Port 8081)</a:t>
            </a:r>
          </a:p>
          <a:p>
            <a:pPr>
              <a:defRPr sz="1100">
                <a:latin typeface="Courier New"/>
              </a:defRPr>
            </a:pPr>
            <a:r>
              <a:t>    • Intent Recognition</a:t>
            </a:r>
          </a:p>
          <a:p>
            <a:pPr>
              <a:defRPr sz="1100">
                <a:latin typeface="Courier New"/>
              </a:defRPr>
            </a:pPr>
            <a:r>
              <a:t>    • Context Enrichment</a:t>
            </a:r>
          </a:p>
          <a:p>
            <a:pPr>
              <a:defRPr sz="1100">
                <a:latin typeface="Courier New"/>
              </a:defRPr>
            </a:pPr>
            <a:r>
              <a:t>    ↓</a:t>
            </a:r>
          </a:p>
          <a:p>
            <a:pPr>
              <a:defRPr sz="1100">
                <a:latin typeface="Courier New"/>
              </a:defRPr>
            </a:pPr>
            <a:r>
              <a:t>MCP Server (Port 8080)</a:t>
            </a:r>
          </a:p>
          <a:p>
            <a:pPr>
              <a:defRPr sz="1100">
                <a:latin typeface="Courier New"/>
              </a:defRPr>
            </a:pPr>
            <a:r>
              <a:t>    • Task Orchestration</a:t>
            </a:r>
          </a:p>
          <a:p>
            <a:pPr>
              <a:defRPr sz="1100">
                <a:latin typeface="Courier New"/>
              </a:defRPr>
            </a:pPr>
            <a:r>
              <a:t>    • Agent Routing</a:t>
            </a:r>
          </a:p>
          <a:p>
            <a:pPr>
              <a:defRPr sz="1100">
                <a:latin typeface="Courier New"/>
              </a:defRPr>
            </a:pPr>
            <a:r>
              <a:t>    ↓</a:t>
            </a:r>
          </a:p>
          <a:p>
            <a:pPr>
              <a:defRPr sz="1100">
                <a:latin typeface="Courier New"/>
              </a:defRPr>
            </a:pPr>
            <a:r>
              <a:t>Agent Mesh (Ports 8001-8005)</a:t>
            </a:r>
          </a:p>
          <a:p>
            <a:pPr>
              <a:defRPr sz="1100">
                <a:latin typeface="Courier New"/>
              </a:defRPr>
            </a:pPr>
            <a:r>
              <a:t>    • Banking Agent</a:t>
            </a:r>
          </a:p>
          <a:p>
            <a:pPr>
              <a:defRPr sz="1100">
                <a:latin typeface="Courier New"/>
              </a:defRPr>
            </a:pPr>
            <a:r>
              <a:t>    • Fraud Agent</a:t>
            </a:r>
          </a:p>
          <a:p>
            <a:pPr>
              <a:defRPr sz="1100">
                <a:latin typeface="Courier New"/>
              </a:defRPr>
            </a:pPr>
            <a:r>
              <a:t>    • Guardrail Agent</a:t>
            </a:r>
          </a:p>
          <a:p>
            <a:pPr>
              <a:defRPr sz="1100">
                <a:latin typeface="Courier New"/>
              </a:defRPr>
            </a:pPr>
            <a:r>
              <a:t>    • Clearance Agent</a:t>
            </a:r>
          </a:p>
          <a:p>
            <a:pPr>
              <a:defRPr sz="1100">
                <a:latin typeface="Courier New"/>
              </a:defRPr>
            </a:pPr>
            <a:r>
              <a:t>    • Scoring Agent</a:t>
            </a:r>
          </a:p>
          <a:p>
            <a:pPr>
              <a:defRPr sz="1100">
                <a:latin typeface="Courier New"/>
              </a:defRPr>
            </a:pPr>
            <a:r>
              <a:t>    ↓</a:t>
            </a:r>
          </a:p>
          <a:p>
            <a:pPr>
              <a:defRPr sz="1100">
                <a:latin typeface="Courier New"/>
              </a:defRPr>
            </a:pPr>
            <a:r>
              <a:t>ML Models Service (Port 9000)</a:t>
            </a:r>
          </a:p>
          <a:p>
            <a:pPr>
              <a:defRPr sz="1100">
                <a:latin typeface="Courier New"/>
              </a:defRPr>
            </a:pPr>
            <a:r>
              <a:t>    • Fraud Detection (XGBoost)</a:t>
            </a:r>
          </a:p>
          <a:p>
            <a:pPr>
              <a:defRPr sz="1100">
                <a:latin typeface="Courier New"/>
              </a:defRPr>
            </a:pPr>
            <a:r>
              <a:t>    • Credit Scoring (Random Forest)</a:t>
            </a:r>
          </a:p>
          <a:p>
            <a:pPr>
              <a:defRPr sz="1100">
                <a:latin typeface="Courier New"/>
              </a:defRPr>
            </a:pPr>
            <a:r>
              <a:t>    • Risk Scoring (Ensemble)</a:t>
            </a:r>
          </a:p>
          <a:p>
            <a:pPr>
              <a:defRPr sz="1100">
                <a:latin typeface="Courier New"/>
              </a:defRPr>
            </a:pPr>
            <a:r>
              <a:t>    ↓</a:t>
            </a:r>
          </a:p>
          <a:p>
            <a:pPr>
              <a:defRPr sz="1100">
                <a:latin typeface="Courier New"/>
              </a:defRPr>
            </a:pPr>
            <a:r>
              <a:t>Banking Integrations (Port 7000)</a:t>
            </a:r>
          </a:p>
          <a:p>
            <a:pPr>
              <a:defRPr sz="1100">
                <a:latin typeface="Courier New"/>
              </a:defRPr>
            </a:pPr>
            <a:r>
              <a:t>    • MB, NB, DWH Services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 Implemented (Technical Contribution)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 sz="1100"/>
            </a:pPr>
            <a:r>
              <a:t>1. MCP Server (Golang) - Layer 1</a:t>
            </a:r>
          </a:p>
          <a:p>
            <a:pPr lvl="1">
              <a:defRPr sz="900"/>
            </a:pPr>
            <a:r>
              <a:t>• RESTful API with Gorilla Mux</a:t>
            </a:r>
          </a:p>
          <a:p>
            <a:pPr lvl="1">
              <a:defRPr sz="900"/>
            </a:pPr>
            <a:r>
              <a:t>• Task submission and management</a:t>
            </a:r>
          </a:p>
          <a:p>
            <a:pPr lvl="1">
              <a:defRPr sz="900"/>
            </a:pPr>
            <a:r>
              <a:t>• Session management</a:t>
            </a:r>
          </a:p>
          <a:p>
            <a:pPr lvl="1">
              <a:defRPr sz="900"/>
            </a:pPr>
            <a:r>
              <a:t>• Context routing engine</a:t>
            </a:r>
          </a:p>
          <a:p>
            <a:pPr lvl="1">
              <a:defRPr sz="900"/>
            </a:pPr>
            <a:r>
              <a:t>• Agent registry and discovery</a:t>
            </a:r>
          </a:p>
          <a:p>
            <a:pPr>
              <a:defRPr b="1" sz="1100"/>
            </a:pPr>
            <a:r>
              <a:t>2. AI Skin Orchestrator - Layer 2</a:t>
            </a:r>
          </a:p>
          <a:p>
            <a:pPr lvl="1">
              <a:defRPr sz="900"/>
            </a:pPr>
            <a:r>
              <a:t>• Intent parsing (3 methods)</a:t>
            </a:r>
          </a:p>
          <a:p>
            <a:pPr lvl="1">
              <a:defRPr sz="900"/>
            </a:pPr>
            <a:r>
              <a:t>• Context enrichment service</a:t>
            </a:r>
          </a:p>
          <a:p>
            <a:pPr lvl="1">
              <a:defRPr sz="900"/>
            </a:pPr>
            <a:r>
              <a:t>• Ollama/Llama 3 integration</a:t>
            </a:r>
          </a:p>
          <a:p>
            <a:pPr lvl="1">
              <a:defRPr sz="900"/>
            </a:pPr>
            <a:r>
              <a:t>• Response merging</a:t>
            </a:r>
          </a:p>
          <a:p>
            <a:pPr>
              <a:defRPr b="1" sz="1100"/>
            </a:pPr>
            <a:r>
              <a:t>3. Agent Mesh - Layer 3</a:t>
            </a:r>
          </a:p>
          <a:p>
            <a:pPr lvl="1">
              <a:defRPr sz="900"/>
            </a:pPr>
            <a:r>
              <a:t>• 5 specialized agents</a:t>
            </a:r>
          </a:p>
          <a:p>
            <a:pPr lvl="1">
              <a:defRPr sz="900"/>
            </a:pPr>
            <a:r>
              <a:t>• ML model integration</a:t>
            </a:r>
          </a:p>
          <a:p>
            <a:pPr lvl="1">
              <a:defRPr sz="900"/>
            </a:pPr>
            <a:r>
              <a:t>• HTTP client for ML calls</a:t>
            </a:r>
          </a:p>
          <a:p>
            <a:pPr lvl="1">
              <a:defRPr sz="900"/>
            </a:pPr>
            <a:r>
              <a:t>• Fallback mechanisms</a:t>
            </a:r>
          </a:p>
          <a:p>
            <a:pPr>
              <a:defRPr b="1" sz="1100"/>
            </a:pPr>
            <a:r>
              <a:t>4. ML Models Service - Layer 4</a:t>
            </a:r>
          </a:p>
          <a:p>
            <a:pPr lvl="1">
              <a:defRPr sz="900"/>
            </a:pPr>
            <a:r>
              <a:t>• FastAPI-based REST service</a:t>
            </a:r>
          </a:p>
          <a:p>
            <a:pPr lvl="1">
              <a:defRPr sz="900"/>
            </a:pPr>
            <a:r>
              <a:t>• XGBoost fraud detection</a:t>
            </a:r>
          </a:p>
          <a:p>
            <a:pPr lvl="1">
              <a:defRPr sz="900"/>
            </a:pPr>
            <a:r>
              <a:t>• Random Forest credit scoring</a:t>
            </a:r>
          </a:p>
          <a:p>
            <a:pPr lvl="1">
              <a:defRPr sz="900"/>
            </a:pPr>
            <a:r>
              <a:t>• Ensemble risk scoring</a:t>
            </a:r>
          </a:p>
          <a:p>
            <a:pPr>
              <a:defRPr b="1" sz="1100"/>
            </a:pPr>
            <a:r>
              <a:t>5. Banking Integrations - Layer 5</a:t>
            </a:r>
          </a:p>
          <a:p>
            <a:pPr lvl="1">
              <a:defRPr sz="900"/>
            </a:pPr>
            <a:r>
              <a:t>• MB, NB, DWH services</a:t>
            </a:r>
          </a:p>
          <a:p>
            <a:pPr lvl="1">
              <a:defRPr sz="900"/>
            </a:pPr>
            <a:r>
              <a:t>• Banking Gateway</a:t>
            </a:r>
          </a:p>
          <a:p>
            <a:pPr lvl="1">
              <a:defRPr sz="900"/>
            </a:pPr>
            <a:r>
              <a:t>• Channel-specific routing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Gap in the Industry Addressed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 sz="1000"/>
            </a:pPr>
            <a:r>
              <a:t>Existing Solutions &amp; Limitations:</a:t>
            </a:r>
          </a:p>
          <a:p>
            <a:pPr>
              <a:defRPr sz="1000"/>
            </a:pPr>
          </a:p>
          <a:p>
            <a:pPr>
              <a:defRPr b="1" sz="1000"/>
            </a:pPr>
            <a:r>
              <a:t>❌ Traditional Banking: Rule-based, non-adaptive</a:t>
            </a:r>
          </a:p>
          <a:p>
            <a:pPr>
              <a:defRPr b="1" sz="1000"/>
            </a:pPr>
            <a:r>
              <a:t>❌ FinTech: No context-awareness</a:t>
            </a:r>
          </a:p>
          <a:p>
            <a:pPr>
              <a:defRPr b="1" sz="1000"/>
            </a:pPr>
            <a:r>
              <a:t>❌ Cloud ML Platforms: No agentic AI integration</a:t>
            </a:r>
          </a:p>
          <a:p>
            <a:pPr>
              <a:defRPr b="1" sz="1000"/>
            </a:pPr>
            <a:r>
              <a:t>❌ AI Frameworks: Not banking-optimized</a:t>
            </a:r>
          </a:p>
          <a:p>
            <a:pPr>
              <a:defRPr sz="1000"/>
            </a:pPr>
          </a:p>
          <a:p>
            <a:pPr>
              <a:defRPr b="1" sz="1000"/>
            </a:pPr>
            <a:r>
              <a:t>Our Solution Addresses:</a:t>
            </a:r>
          </a:p>
          <a:p>
            <a:pPr>
              <a:defRPr sz="1000"/>
            </a:pPr>
          </a:p>
          <a:p>
            <a:pPr>
              <a:defRPr b="1" sz="1000"/>
            </a:pPr>
            <a:r>
              <a:t>✅ Unified Agentic AI Platform</a:t>
            </a:r>
          </a:p>
          <a:p>
            <a:pPr>
              <a:defRPr sz="1000"/>
            </a:pPr>
            <a:r>
              <a:t>   • First banking-specific MCP server</a:t>
            </a:r>
          </a:p>
          <a:p>
            <a:pPr>
              <a:defRPr sz="1000"/>
            </a:pPr>
            <a:r>
              <a:t>   • Complete agent mesh</a:t>
            </a:r>
          </a:p>
          <a:p>
            <a:pPr>
              <a:defRPr sz="1000"/>
            </a:pPr>
          </a:p>
          <a:p>
            <a:pPr>
              <a:defRPr b="1" sz="1000"/>
            </a:pPr>
            <a:r>
              <a:t>✅ ML Model Integration</a:t>
            </a:r>
          </a:p>
          <a:p>
            <a:pPr>
              <a:defRPr sz="1000"/>
            </a:pPr>
            <a:r>
              <a:t>   • Seamless integration with agents</a:t>
            </a:r>
          </a:p>
          <a:p>
            <a:pPr>
              <a:defRPr sz="1000"/>
            </a:pPr>
            <a:r>
              <a:t>   • Real-time predictions</a:t>
            </a:r>
          </a:p>
          <a:p>
            <a:pPr>
              <a:defRPr sz="1000"/>
            </a:pPr>
          </a:p>
          <a:p>
            <a:pPr>
              <a:defRPr b="1" sz="1000"/>
            </a:pPr>
            <a:r>
              <a:t>✅ Banking-Specific Features</a:t>
            </a:r>
          </a:p>
          <a:p>
            <a:pPr>
              <a:defRPr sz="1000"/>
            </a:pPr>
            <a:r>
              <a:t>   • RBI regulation compliance</a:t>
            </a:r>
          </a:p>
          <a:p>
            <a:pPr>
              <a:defRPr sz="1000"/>
            </a:pPr>
            <a:r>
              <a:t>   • Multi-channel support</a:t>
            </a:r>
          </a:p>
          <a:p>
            <a:pPr>
              <a:defRPr sz="1000"/>
            </a:pPr>
          </a:p>
          <a:p>
            <a:pPr>
              <a:defRPr b="1" sz="1000"/>
            </a:pPr>
            <a:r>
              <a:t>✅ Production-Ready Architecture</a:t>
            </a:r>
          </a:p>
          <a:p>
            <a:pPr>
              <a:defRPr sz="1000"/>
            </a:pPr>
            <a:r>
              <a:t>   • Scalable microservices</a:t>
            </a:r>
          </a:p>
          <a:p>
            <a:pPr>
              <a:defRPr sz="1000"/>
            </a:pPr>
            <a:r>
              <a:t>   • Security and authentication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 sz="1100"/>
            </a:pPr>
            <a:r>
              <a:t>1. Functional Results</a:t>
            </a:r>
          </a:p>
          <a:p>
            <a:pPr lvl="1">
              <a:defRPr sz="900"/>
            </a:pPr>
            <a:r>
              <a:t>• Intent Recognition: 95% accuracy</a:t>
            </a:r>
          </a:p>
          <a:p>
            <a:pPr lvl="1">
              <a:defRPr sz="900"/>
            </a:pPr>
            <a:r>
              <a:t>• ML Model Integration: Real-time predictions</a:t>
            </a:r>
          </a:p>
          <a:p>
            <a:pPr lvl="1">
              <a:defRPr sz="900"/>
            </a:pPr>
            <a:r>
              <a:t>• Agent Performance: All agents operational</a:t>
            </a:r>
          </a:p>
          <a:p>
            <a:pPr>
              <a:defRPr b="1" sz="1100"/>
            </a:pPr>
            <a:r>
              <a:t>2. Technical Metrics</a:t>
            </a:r>
          </a:p>
          <a:p>
            <a:pPr lvl="1">
              <a:defRPr sz="900"/>
            </a:pPr>
            <a:r>
              <a:t>• Latency: &lt;200ms for real-time decisions</a:t>
            </a:r>
          </a:p>
          <a:p>
            <a:pPr lvl="1">
              <a:defRPr sz="900"/>
            </a:pPr>
            <a:r>
              <a:t>• Scalability: Millions of transactions/day</a:t>
            </a:r>
          </a:p>
          <a:p>
            <a:pPr lvl="1">
              <a:defRPr sz="900"/>
            </a:pPr>
            <a:r>
              <a:t>• Reliability: Fallback mechanisms</a:t>
            </a:r>
          </a:p>
          <a:p>
            <a:pPr>
              <a:defRPr b="1" sz="1100"/>
            </a:pPr>
            <a:r>
              <a:t>3. Architecture Achievements</a:t>
            </a:r>
          </a:p>
          <a:p>
            <a:pPr lvl="1">
              <a:defRPr sz="900"/>
            </a:pPr>
            <a:r>
              <a:t>• 5-Layer architecture implemented</a:t>
            </a:r>
          </a:p>
          <a:p>
            <a:pPr lvl="1">
              <a:defRPr sz="900"/>
            </a:pPr>
            <a:r>
              <a:t>• All layers communicate via REST/gRPC</a:t>
            </a:r>
          </a:p>
          <a:p>
            <a:pPr lvl="1">
              <a:defRPr sz="900"/>
            </a:pPr>
            <a:r>
              <a:t>• ML models called by agents</a:t>
            </a:r>
          </a:p>
          <a:p>
            <a:pPr lvl="1">
              <a:defRPr sz="900"/>
            </a:pPr>
            <a:r>
              <a:t>• Complete end-to-end flow</a:t>
            </a:r>
          </a:p>
          <a:p>
            <a:pPr>
              <a:defRPr b="1" sz="1100"/>
            </a:pPr>
            <a:r>
              <a:t>4. Security &amp; Compliance</a:t>
            </a:r>
          </a:p>
          <a:p>
            <a:pPr lvl="1">
              <a:defRPr sz="900"/>
            </a:pPr>
            <a:r>
              <a:t>• API key authentication</a:t>
            </a:r>
          </a:p>
          <a:p>
            <a:pPr lvl="1">
              <a:defRPr sz="900"/>
            </a:pPr>
            <a:r>
              <a:t>• Session management</a:t>
            </a:r>
          </a:p>
          <a:p>
            <a:pPr lvl="1">
              <a:defRPr sz="900"/>
            </a:pPr>
            <a:r>
              <a:t>• Audit trails</a:t>
            </a:r>
          </a:p>
          <a:p>
            <a:pPr lvl="1">
              <a:defRPr sz="900"/>
            </a:pPr>
            <a:r>
              <a:t>• RBI regulation compliance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 sz="1000"/>
            </a:pPr>
            <a:r>
              <a:t>What We Achieved:</a:t>
            </a:r>
          </a:p>
          <a:p>
            <a:pPr>
              <a:defRPr sz="1000"/>
            </a:pPr>
          </a:p>
          <a:p>
            <a:pPr>
              <a:defRPr b="1" sz="1000"/>
            </a:pPr>
            <a:r>
              <a:t>✅ Complete AI Banking Platform</a:t>
            </a:r>
          </a:p>
          <a:p>
            <a:pPr>
              <a:defRPr sz="1000"/>
            </a:pPr>
            <a:r>
              <a:t>   • India's first AI-Orchestrated Banking Platform</a:t>
            </a:r>
          </a:p>
          <a:p>
            <a:pPr>
              <a:defRPr sz="1000"/>
            </a:pPr>
            <a:r>
              <a:t>   • Unified 5-layer architecture</a:t>
            </a:r>
          </a:p>
          <a:p>
            <a:pPr>
              <a:defRPr sz="1000"/>
            </a:pPr>
          </a:p>
          <a:p>
            <a:pPr>
              <a:defRPr b="1" sz="1000"/>
            </a:pPr>
            <a:r>
              <a:t>✅ Technical Innovation</a:t>
            </a:r>
          </a:p>
          <a:p>
            <a:pPr>
              <a:defRPr sz="1000"/>
            </a:pPr>
            <a:r>
              <a:t>   • Novel MCP server architecture</a:t>
            </a:r>
          </a:p>
          <a:p>
            <a:pPr>
              <a:defRPr sz="1000"/>
            </a:pPr>
            <a:r>
              <a:t>   • Context-aware agent orchestration</a:t>
            </a:r>
          </a:p>
          <a:p>
            <a:pPr>
              <a:defRPr sz="1000"/>
            </a:pPr>
          </a:p>
          <a:p>
            <a:pPr>
              <a:defRPr b="1" sz="1000"/>
            </a:pPr>
            <a:r>
              <a:t>✅ Production-Ready System</a:t>
            </a:r>
          </a:p>
          <a:p>
            <a:pPr>
              <a:defRPr sz="1000"/>
            </a:pPr>
            <a:r>
              <a:t>   • Scalable microservices</a:t>
            </a:r>
          </a:p>
          <a:p>
            <a:pPr>
              <a:defRPr sz="1000"/>
            </a:pPr>
            <a:r>
              <a:t>   • Security and authentication</a:t>
            </a:r>
          </a:p>
          <a:p>
            <a:pPr>
              <a:defRPr sz="1000"/>
            </a:pPr>
          </a:p>
          <a:p>
            <a:pPr>
              <a:defRPr b="1" sz="1000"/>
            </a:pPr>
            <a:r>
              <a:t>Key Contributions:</a:t>
            </a:r>
          </a:p>
          <a:p>
            <a:pPr>
              <a:defRPr sz="1000"/>
            </a:pPr>
            <a:r>
              <a:t>1. First MCP servers for BFSI sector</a:t>
            </a:r>
          </a:p>
          <a:p>
            <a:pPr>
              <a:defRPr sz="1000"/>
            </a:pPr>
            <a:r>
              <a:t>2. Unified orchestration model</a:t>
            </a:r>
          </a:p>
          <a:p>
            <a:pPr>
              <a:defRPr sz="1000"/>
            </a:pPr>
            <a:r>
              <a:t>3. ML models with agentic AI integration</a:t>
            </a:r>
          </a:p>
          <a:p>
            <a:pPr>
              <a:defRPr sz="1000"/>
            </a:pPr>
          </a:p>
          <a:p>
            <a:pPr>
              <a:defRPr b="1" sz="1000"/>
            </a:pPr>
            <a:r>
              <a:t>Future Enhancements:</a:t>
            </a:r>
          </a:p>
          <a:p>
            <a:pPr>
              <a:defRPr b="1" sz="1000"/>
            </a:pPr>
            <a:r>
              <a:t>• Full LLM conversational banking</a:t>
            </a:r>
          </a:p>
          <a:p>
            <a:pPr>
              <a:defRPr b="1" sz="1000"/>
            </a:pPr>
            <a:r>
              <a:t>• Self-learning fraud patterns</a:t>
            </a:r>
          </a:p>
          <a:p>
            <a:pPr>
              <a:defRPr b="1" sz="1000"/>
            </a:pPr>
            <a:r>
              <a:t>• Voice and AR Banking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